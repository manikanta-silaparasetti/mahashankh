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3" r:id="rId1"/>
  </p:sldMasterIdLst>
  <p:sldIdLst>
    <p:sldId id="257" r:id="rId2"/>
    <p:sldId id="259" r:id="rId3"/>
    <p:sldId id="261" r:id="rId4"/>
    <p:sldId id="258" r:id="rId5"/>
    <p:sldId id="260" r:id="rId6"/>
    <p:sldId id="263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44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44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432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878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938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57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33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7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00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70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945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618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71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691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380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2521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77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9D7881D-1A34-47DE-9474-92DC35601C20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10228-32C9-4C68-88B7-140F9BD74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32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  <p:sldLayoutId id="2147484055" r:id="rId12"/>
    <p:sldLayoutId id="2147484056" r:id="rId13"/>
    <p:sldLayoutId id="2147484057" r:id="rId14"/>
    <p:sldLayoutId id="2147484058" r:id="rId15"/>
    <p:sldLayoutId id="2147484059" r:id="rId16"/>
    <p:sldLayoutId id="214748406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36AA-1105-26E0-BFDA-5753B112D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228" y="1244601"/>
            <a:ext cx="8568265" cy="914400"/>
          </a:xfrm>
        </p:spPr>
        <p:txBody>
          <a:bodyPr>
            <a:normAutofit/>
          </a:bodyPr>
          <a:lstStyle/>
          <a:p>
            <a:r>
              <a:rPr lang="en-IN" dirty="0"/>
              <a:t>              </a:t>
            </a:r>
            <a:r>
              <a:rPr lang="en-IN" sz="4400" b="1" dirty="0">
                <a:solidFill>
                  <a:schemeClr val="tx1"/>
                </a:solidFill>
              </a:rPr>
              <a:t>DATA SCIENCE</a:t>
            </a:r>
            <a:endParaRPr lang="en-IN" sz="4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BDA2E-F4B5-F715-9E64-B72F15C1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4" y="2633132"/>
            <a:ext cx="9516454" cy="3945467"/>
          </a:xfrm>
        </p:spPr>
        <p:txBody>
          <a:bodyPr/>
          <a:lstStyle/>
          <a:p>
            <a:r>
              <a:rPr lang="en-IN" dirty="0"/>
              <a:t>NAME : DAMODARA LEELAPRASAD</a:t>
            </a:r>
          </a:p>
          <a:p>
            <a:r>
              <a:rPr lang="en-IN" dirty="0"/>
              <a:t>ROLL-NO : 246C5A5402</a:t>
            </a:r>
          </a:p>
          <a:p>
            <a:r>
              <a:rPr lang="en-IN" dirty="0"/>
              <a:t>BRANCH : ARTIFICIAL INTELLIGENCE &amp; DATA SCIENCE</a:t>
            </a:r>
          </a:p>
        </p:txBody>
      </p:sp>
    </p:spTree>
    <p:extLst>
      <p:ext uri="{BB962C8B-B14F-4D97-AF65-F5344CB8AC3E}">
        <p14:creationId xmlns:p14="http://schemas.microsoft.com/office/powerpoint/2010/main" val="1398220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5B68-FF21-6635-DA1C-699877324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What is data sc</a:t>
            </a:r>
            <a:r>
              <a:rPr lang="en-IN" dirty="0">
                <a:solidFill>
                  <a:schemeClr val="tx1"/>
                </a:solidFill>
              </a:rPr>
              <a:t>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975C9-D9CD-BAB8-B507-9466B8B5E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333" y="1049866"/>
            <a:ext cx="8737520" cy="5198533"/>
          </a:xfrm>
        </p:spPr>
        <p:txBody>
          <a:bodyPr/>
          <a:lstStyle/>
          <a:p>
            <a:pPr marL="0" indent="0" fontAlgn="base">
              <a:buNone/>
            </a:pPr>
            <a:endParaRPr lang="en-IN" dirty="0"/>
          </a:p>
          <a:p>
            <a:pPr fontAlgn="base"/>
            <a:r>
              <a:rPr lang="en-IN" b="1" dirty="0"/>
              <a:t>Data science</a:t>
            </a:r>
            <a:r>
              <a:rPr lang="en-IN" dirty="0"/>
              <a:t> is an interdisciplinary field that uses scientific methods, processes, algorithms and systems to extract knowledge and insights from many structural and unstructured data</a:t>
            </a:r>
          </a:p>
          <a:p>
            <a:pPr fontAlgn="base"/>
            <a:endParaRPr lang="en-IN" dirty="0"/>
          </a:p>
          <a:p>
            <a:pPr fontAlgn="base"/>
            <a:endParaRPr lang="en-IN" dirty="0"/>
          </a:p>
          <a:p>
            <a:pPr marL="0" indent="0" fontAlgn="base"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4FF1BA-C956-3BE4-A7D9-F97E9BF4B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607" y="2636117"/>
            <a:ext cx="5696193" cy="411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12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3934-9847-B94F-DEBA-89C4DB0C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452718"/>
            <a:ext cx="9678301" cy="961215"/>
          </a:xfrm>
        </p:spPr>
        <p:txBody>
          <a:bodyPr/>
          <a:lstStyle/>
          <a:p>
            <a:r>
              <a:rPr lang="en-IN" b="1" dirty="0"/>
              <a:t>DATA SCIENCE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8B90A4-705E-BB3D-7ECD-C967ECD29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3" y="1488182"/>
            <a:ext cx="8947150" cy="475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0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D7B864-E7A6-C932-037A-A7DC7AA23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6" y="381002"/>
            <a:ext cx="7814734" cy="88053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Technical stack in data science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E5663F-D485-ABFE-86E4-8A0A5637A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711" y="1261534"/>
            <a:ext cx="8946541" cy="4195481"/>
          </a:xfrm>
        </p:spPr>
        <p:txBody>
          <a:bodyPr/>
          <a:lstStyle/>
          <a:p>
            <a:r>
              <a:rPr lang="en-IN" dirty="0"/>
              <a:t>Python</a:t>
            </a:r>
          </a:p>
          <a:p>
            <a:r>
              <a:rPr lang="en-IN" dirty="0"/>
              <a:t>SQL</a:t>
            </a:r>
          </a:p>
          <a:p>
            <a:r>
              <a:rPr lang="en-IN" dirty="0"/>
              <a:t>NUMPY,PANDAS</a:t>
            </a:r>
          </a:p>
          <a:p>
            <a:r>
              <a:rPr lang="en-IN" dirty="0"/>
              <a:t>MATPLOTLIB</a:t>
            </a:r>
          </a:p>
          <a:p>
            <a:r>
              <a:rPr lang="en-IN" dirty="0"/>
              <a:t>MACHINE LEARNING(SCIKIT-LEARN)</a:t>
            </a:r>
          </a:p>
          <a:p>
            <a:r>
              <a:rPr lang="en-IN" dirty="0"/>
              <a:t>DEEP LEARNING(PYTORCH,TENSORFLOW)</a:t>
            </a:r>
          </a:p>
          <a:p>
            <a:r>
              <a:rPr lang="en-IN" dirty="0"/>
              <a:t>FAST API</a:t>
            </a:r>
          </a:p>
        </p:txBody>
      </p:sp>
    </p:spTree>
    <p:extLst>
      <p:ext uri="{BB962C8B-B14F-4D97-AF65-F5344CB8AC3E}">
        <p14:creationId xmlns:p14="http://schemas.microsoft.com/office/powerpoint/2010/main" val="304131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71D2F-E611-EAF0-46BC-8A864FBD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REAL 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96889-1FF7-BF3D-E189-B0DD0F94C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712" y="1331259"/>
            <a:ext cx="8946541" cy="4195481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50A70E-D256-89CA-3BED-56A0F0CB9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778" y="1420487"/>
            <a:ext cx="9744183" cy="489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6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A98DA64-D000-9C7C-D5EB-4BAA70362AA4}"/>
              </a:ext>
            </a:extLst>
          </p:cNvPr>
          <p:cNvSpPr/>
          <p:nvPr/>
        </p:nvSpPr>
        <p:spPr>
          <a:xfrm>
            <a:off x="28956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kern="0" spc="300" dirty="0">
                <a:solidFill>
                  <a:srgbClr val="F3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CARE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508960-A8EA-5960-0ED9-1E996F4B0345}"/>
              </a:ext>
            </a:extLst>
          </p:cNvPr>
          <p:cNvSpPr/>
          <p:nvPr/>
        </p:nvSpPr>
        <p:spPr>
          <a:xfrm>
            <a:off x="198120" y="1188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Prediction System</a:t>
            </a:r>
            <a:endParaRPr lang="en-US" sz="4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29EDD1A-7FD6-3312-DF1B-A1997C9344BE}"/>
              </a:ext>
            </a:extLst>
          </p:cNvPr>
          <p:cNvSpPr/>
          <p:nvPr/>
        </p:nvSpPr>
        <p:spPr>
          <a:xfrm>
            <a:off x="289560" y="21259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powered symptom checker that predicts likely diseases and recommends precautions, medication, diet, and workout — delivered through a Flask web app with optional voice input.</a:t>
            </a: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FE5742B-A13E-E8CB-0F27-B63A2AB0293E}"/>
              </a:ext>
            </a:extLst>
          </p:cNvPr>
          <p:cNvSpPr/>
          <p:nvPr/>
        </p:nvSpPr>
        <p:spPr>
          <a:xfrm>
            <a:off x="529590" y="3464379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87A7638-9454-4F70-30D3-AD9CBC1DAF77}"/>
              </a:ext>
            </a:extLst>
          </p:cNvPr>
          <p:cNvSpPr/>
          <p:nvPr/>
        </p:nvSpPr>
        <p:spPr>
          <a:xfrm>
            <a:off x="278130" y="3807279"/>
            <a:ext cx="254889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3DF3A22-1811-937F-C857-61F946F2DA3A}"/>
              </a:ext>
            </a:extLst>
          </p:cNvPr>
          <p:cNvSpPr/>
          <p:nvPr/>
        </p:nvSpPr>
        <p:spPr>
          <a:xfrm>
            <a:off x="312420" y="43485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4C4754E-9053-7FB5-28F8-0F1B4ED5CA72}"/>
              </a:ext>
            </a:extLst>
          </p:cNvPr>
          <p:cNvSpPr/>
          <p:nvPr/>
        </p:nvSpPr>
        <p:spPr>
          <a:xfrm>
            <a:off x="3341370" y="3485061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B57F388-D5D5-A6B4-E6B1-6EA9E6850E8D}"/>
              </a:ext>
            </a:extLst>
          </p:cNvPr>
          <p:cNvSpPr/>
          <p:nvPr/>
        </p:nvSpPr>
        <p:spPr>
          <a:xfrm>
            <a:off x="3124200" y="3726181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4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C3F8637-86B6-14B8-A5EA-7D87805C9DDD}"/>
              </a:ext>
            </a:extLst>
          </p:cNvPr>
          <p:cNvSpPr/>
          <p:nvPr/>
        </p:nvSpPr>
        <p:spPr>
          <a:xfrm>
            <a:off x="3124200" y="4309109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52C395E-7DA9-7957-65E0-B6E53D85B01D}"/>
              </a:ext>
            </a:extLst>
          </p:cNvPr>
          <p:cNvSpPr/>
          <p:nvPr/>
        </p:nvSpPr>
        <p:spPr>
          <a:xfrm>
            <a:off x="5890260" y="3485061"/>
            <a:ext cx="233172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DE2BC0-A142-EF82-3CB4-D3E087E1D5DA}"/>
              </a:ext>
            </a:extLst>
          </p:cNvPr>
          <p:cNvSpPr/>
          <p:nvPr/>
        </p:nvSpPr>
        <p:spPr>
          <a:xfrm>
            <a:off x="5890260" y="36804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BD22BEA-CB71-1D8B-BE4C-718D12085BC3}"/>
              </a:ext>
            </a:extLst>
          </p:cNvPr>
          <p:cNvSpPr/>
          <p:nvPr/>
        </p:nvSpPr>
        <p:spPr>
          <a:xfrm>
            <a:off x="5890260" y="4285705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3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1232416-2A20-B694-66EF-F29F1742E892}"/>
              </a:ext>
            </a:extLst>
          </p:cNvPr>
          <p:cNvSpPr/>
          <p:nvPr/>
        </p:nvSpPr>
        <p:spPr>
          <a:xfrm>
            <a:off x="8519160" y="3464379"/>
            <a:ext cx="2788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22304E6-6113-5763-B5F5-86209450A776}"/>
              </a:ext>
            </a:extLst>
          </p:cNvPr>
          <p:cNvSpPr/>
          <p:nvPr/>
        </p:nvSpPr>
        <p:spPr>
          <a:xfrm>
            <a:off x="8519160" y="3485061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 →  ML Model  →  Recommendations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BAF7171-EA27-6969-ED2F-2695886492A0}"/>
              </a:ext>
            </a:extLst>
          </p:cNvPr>
          <p:cNvSpPr/>
          <p:nvPr/>
        </p:nvSpPr>
        <p:spPr>
          <a:xfrm>
            <a:off x="-71628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94345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7B45BD-DA40-E369-0274-1D97017CBD49}"/>
              </a:ext>
            </a:extLst>
          </p:cNvPr>
          <p:cNvSpPr/>
          <p:nvPr/>
        </p:nvSpPr>
        <p:spPr>
          <a:xfrm>
            <a:off x="563880" y="4800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Output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569230-6B35-FADB-94E3-6BB3675C6B31}"/>
              </a:ext>
            </a:extLst>
          </p:cNvPr>
          <p:cNvSpPr/>
          <p:nvPr/>
        </p:nvSpPr>
        <p:spPr>
          <a:xfrm>
            <a:off x="563880" y="10287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takes in, and what it hands back to the patient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5664E63-2EE7-89E6-11E0-4135922E0C3C}"/>
              </a:ext>
            </a:extLst>
          </p:cNvPr>
          <p:cNvSpPr/>
          <p:nvPr/>
        </p:nvSpPr>
        <p:spPr>
          <a:xfrm>
            <a:off x="563880" y="162306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8D3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597D207-BAD7-7481-288A-6F3B9F93C409}"/>
              </a:ext>
            </a:extLst>
          </p:cNvPr>
          <p:cNvSpPr/>
          <p:nvPr/>
        </p:nvSpPr>
        <p:spPr>
          <a:xfrm>
            <a:off x="883920" y="189738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C54CAF3-26D9-3031-04B2-BE6926563D8A}"/>
              </a:ext>
            </a:extLst>
          </p:cNvPr>
          <p:cNvSpPr/>
          <p:nvPr/>
        </p:nvSpPr>
        <p:spPr>
          <a:xfrm>
            <a:off x="883920" y="18973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A59A61C-C377-F182-13B1-08CA025FD53D}"/>
              </a:ext>
            </a:extLst>
          </p:cNvPr>
          <p:cNvSpPr/>
          <p:nvPr/>
        </p:nvSpPr>
        <p:spPr>
          <a:xfrm>
            <a:off x="1524000" y="18973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9E53A3F-2499-C598-26CE-B69E83143642}"/>
              </a:ext>
            </a:extLst>
          </p:cNvPr>
          <p:cNvSpPr/>
          <p:nvPr/>
        </p:nvSpPr>
        <p:spPr>
          <a:xfrm>
            <a:off x="929640" y="2683764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6D9BD07-8D82-4EF3-C87C-1B9D947B7781}"/>
              </a:ext>
            </a:extLst>
          </p:cNvPr>
          <p:cNvSpPr/>
          <p:nvPr/>
        </p:nvSpPr>
        <p:spPr>
          <a:xfrm>
            <a:off x="1158240" y="25191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text</a:t>
            </a:r>
            <a:endParaRPr lang="en-US" sz="14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CD5860-B350-5894-6068-FAD28857931D}"/>
              </a:ext>
            </a:extLst>
          </p:cNvPr>
          <p:cNvSpPr/>
          <p:nvPr/>
        </p:nvSpPr>
        <p:spPr>
          <a:xfrm>
            <a:off x="1158240" y="283006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symptoms typed into the web form, comma-separated (e.g. "itching, high fever, headache").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7442900-A41D-50C4-8A68-A91EF9A9EC66}"/>
              </a:ext>
            </a:extLst>
          </p:cNvPr>
          <p:cNvSpPr/>
          <p:nvPr/>
        </p:nvSpPr>
        <p:spPr>
          <a:xfrm>
            <a:off x="929640" y="3918204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A12F07E-9A65-3FA9-535F-0EE575C3ED94}"/>
              </a:ext>
            </a:extLst>
          </p:cNvPr>
          <p:cNvSpPr/>
          <p:nvPr/>
        </p:nvSpPr>
        <p:spPr>
          <a:xfrm>
            <a:off x="1158240" y="37536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</a:t>
            </a:r>
            <a:endParaRPr lang="en-US" sz="14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A39AC95-1A41-ACF1-0627-ABC215D50C9F}"/>
              </a:ext>
            </a:extLst>
          </p:cNvPr>
          <p:cNvSpPr/>
          <p:nvPr/>
        </p:nvSpPr>
        <p:spPr>
          <a:xfrm>
            <a:off x="1158240" y="406450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symptoms captured via microphone and converted to text using Google's speech-recognition API.</a:t>
            </a:r>
            <a:endParaRPr lang="en-US" sz="11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8D3295F-EAA9-B81B-F3DC-11501E2CFE28}"/>
              </a:ext>
            </a:extLst>
          </p:cNvPr>
          <p:cNvSpPr/>
          <p:nvPr/>
        </p:nvSpPr>
        <p:spPr>
          <a:xfrm>
            <a:off x="929640" y="5152644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44AD702-B3DA-A3EA-8576-FCE4A12E3D36}"/>
              </a:ext>
            </a:extLst>
          </p:cNvPr>
          <p:cNvSpPr/>
          <p:nvPr/>
        </p:nvSpPr>
        <p:spPr>
          <a:xfrm>
            <a:off x="1158240" y="49880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correction</a:t>
            </a:r>
            <a:endParaRPr lang="en-US" sz="14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902613-CA5C-BFE4-6AA6-FEDEB0785FD9}"/>
              </a:ext>
            </a:extLst>
          </p:cNvPr>
          <p:cNvSpPr/>
          <p:nvPr/>
        </p:nvSpPr>
        <p:spPr>
          <a:xfrm>
            <a:off x="1158240" y="529894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or loosely-worded symptoms are auto-matched to the closest known symptom name.</a:t>
            </a:r>
            <a:endParaRPr lang="en-US" sz="11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FF39FCB-FA46-83CA-D29F-0E4098F5D6F9}"/>
              </a:ext>
            </a:extLst>
          </p:cNvPr>
          <p:cNvSpPr/>
          <p:nvPr/>
        </p:nvSpPr>
        <p:spPr>
          <a:xfrm>
            <a:off x="6096000" y="1623060"/>
            <a:ext cx="5532120" cy="4754880"/>
          </a:xfrm>
          <a:prstGeom prst="roundRect">
            <a:avLst>
              <a:gd name="adj" fmla="val 2308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08CD5E0-55D6-2BAC-7F2A-A97D04E39F3F}"/>
              </a:ext>
            </a:extLst>
          </p:cNvPr>
          <p:cNvSpPr/>
          <p:nvPr/>
        </p:nvSpPr>
        <p:spPr>
          <a:xfrm>
            <a:off x="6416040" y="18973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97157A3-9347-50B7-5E6C-B7ACD8CB1D39}"/>
              </a:ext>
            </a:extLst>
          </p:cNvPr>
          <p:cNvSpPr/>
          <p:nvPr/>
        </p:nvSpPr>
        <p:spPr>
          <a:xfrm>
            <a:off x="6416040" y="18973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1A23EE5-0916-7750-2F9A-1E61823DE7DC}"/>
              </a:ext>
            </a:extLst>
          </p:cNvPr>
          <p:cNvSpPr/>
          <p:nvPr/>
        </p:nvSpPr>
        <p:spPr>
          <a:xfrm>
            <a:off x="7056120" y="18973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8C9E2B1-8C9F-3944-C216-BF5F093FD6EB}"/>
              </a:ext>
            </a:extLst>
          </p:cNvPr>
          <p:cNvSpPr/>
          <p:nvPr/>
        </p:nvSpPr>
        <p:spPr>
          <a:xfrm>
            <a:off x="6416040" y="26289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4325B54-4CAA-43CB-110D-479BBEFA32FF}"/>
              </a:ext>
            </a:extLst>
          </p:cNvPr>
          <p:cNvSpPr/>
          <p:nvPr/>
        </p:nvSpPr>
        <p:spPr>
          <a:xfrm>
            <a:off x="6416040" y="26289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7056A24-9B99-F03C-98F2-D0B8AE8B7F23}"/>
              </a:ext>
            </a:extLst>
          </p:cNvPr>
          <p:cNvSpPr/>
          <p:nvPr/>
        </p:nvSpPr>
        <p:spPr>
          <a:xfrm>
            <a:off x="6827520" y="25557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disease name (one of 41 classes)</a:t>
            </a:r>
            <a:endParaRPr lang="en-US"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21AA618-B7BB-7BAE-07BD-0D210D2C2D5A}"/>
              </a:ext>
            </a:extLst>
          </p:cNvPr>
          <p:cNvSpPr/>
          <p:nvPr/>
        </p:nvSpPr>
        <p:spPr>
          <a:xfrm>
            <a:off x="6416040" y="32872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EC8A1AB-EEBF-9FC0-CC96-E47A1B751A5C}"/>
              </a:ext>
            </a:extLst>
          </p:cNvPr>
          <p:cNvSpPr/>
          <p:nvPr/>
        </p:nvSpPr>
        <p:spPr>
          <a:xfrm>
            <a:off x="6416040" y="32872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B8E6852-1FD0-E0D2-B015-B61245B48551}"/>
              </a:ext>
            </a:extLst>
          </p:cNvPr>
          <p:cNvSpPr/>
          <p:nvPr/>
        </p:nvSpPr>
        <p:spPr>
          <a:xfrm>
            <a:off x="6827520" y="321411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description of the condition</a:t>
            </a:r>
            <a:endParaRPr lang="en-US" sz="13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3265903-0086-DF1D-32F8-A583561A0A36}"/>
              </a:ext>
            </a:extLst>
          </p:cNvPr>
          <p:cNvSpPr/>
          <p:nvPr/>
        </p:nvSpPr>
        <p:spPr>
          <a:xfrm>
            <a:off x="6416040" y="39456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B816924-317A-9339-E620-7364B18064C5}"/>
              </a:ext>
            </a:extLst>
          </p:cNvPr>
          <p:cNvSpPr/>
          <p:nvPr/>
        </p:nvSpPr>
        <p:spPr>
          <a:xfrm>
            <a:off x="6416040" y="39456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06036B0-0A7C-2008-70FF-F6986BC3A3A1}"/>
              </a:ext>
            </a:extLst>
          </p:cNvPr>
          <p:cNvSpPr/>
          <p:nvPr/>
        </p:nvSpPr>
        <p:spPr>
          <a:xfrm>
            <a:off x="6827520" y="387248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recommended precautions to follow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685A9C9-A5E8-FC1D-1AD2-C574A4C2A477}"/>
              </a:ext>
            </a:extLst>
          </p:cNvPr>
          <p:cNvSpPr/>
          <p:nvPr/>
        </p:nvSpPr>
        <p:spPr>
          <a:xfrm>
            <a:off x="6416040" y="46040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FE554C8-3CEC-7E58-7B6B-2469E4FADCBB}"/>
              </a:ext>
            </a:extLst>
          </p:cNvPr>
          <p:cNvSpPr/>
          <p:nvPr/>
        </p:nvSpPr>
        <p:spPr>
          <a:xfrm>
            <a:off x="6416040" y="46040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625BF47-1C24-E972-B189-09A4958D4628}"/>
              </a:ext>
            </a:extLst>
          </p:cNvPr>
          <p:cNvSpPr/>
          <p:nvPr/>
        </p:nvSpPr>
        <p:spPr>
          <a:xfrm>
            <a:off x="6827520" y="453085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medications, each linked to a drugs.com search</a:t>
            </a:r>
            <a:endParaRPr lang="en-US" sz="13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05D183C-BB23-8FD9-422B-3C028C2788F6}"/>
              </a:ext>
            </a:extLst>
          </p:cNvPr>
          <p:cNvSpPr/>
          <p:nvPr/>
        </p:nvSpPr>
        <p:spPr>
          <a:xfrm>
            <a:off x="6416040" y="526237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4CC3D78-7DDD-011E-6973-66C533F9AF96}"/>
              </a:ext>
            </a:extLst>
          </p:cNvPr>
          <p:cNvSpPr/>
          <p:nvPr/>
        </p:nvSpPr>
        <p:spPr>
          <a:xfrm>
            <a:off x="6416040" y="52623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F0D77EB-9F73-5082-A30C-FB272ACE955E}"/>
              </a:ext>
            </a:extLst>
          </p:cNvPr>
          <p:cNvSpPr/>
          <p:nvPr/>
        </p:nvSpPr>
        <p:spPr>
          <a:xfrm>
            <a:off x="6827520" y="51892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diet plan</a:t>
            </a:r>
            <a:endParaRPr lang="en-US" sz="13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BA7EC5BE-DD9C-A035-33F5-9C8F94FF07D9}"/>
              </a:ext>
            </a:extLst>
          </p:cNvPr>
          <p:cNvSpPr/>
          <p:nvPr/>
        </p:nvSpPr>
        <p:spPr>
          <a:xfrm>
            <a:off x="6416040" y="59207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6EB30FD-1426-4245-E3DC-302CF36CACE3}"/>
              </a:ext>
            </a:extLst>
          </p:cNvPr>
          <p:cNvSpPr/>
          <p:nvPr/>
        </p:nvSpPr>
        <p:spPr>
          <a:xfrm>
            <a:off x="6416040" y="59207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269BE35-FEB2-F543-0E9B-B04D49A41921}"/>
              </a:ext>
            </a:extLst>
          </p:cNvPr>
          <p:cNvSpPr/>
          <p:nvPr/>
        </p:nvSpPr>
        <p:spPr>
          <a:xfrm>
            <a:off x="6827520" y="58475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workout / activity guidance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62787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3992FB-6853-45B3-85A0-87D9C3A4D547}"/>
              </a:ext>
            </a:extLst>
          </p:cNvPr>
          <p:cNvSpPr/>
          <p:nvPr/>
        </p:nvSpPr>
        <p:spPr>
          <a:xfrm>
            <a:off x="431292" y="2971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99E218-D11F-B5A1-4797-1181AB575872}"/>
              </a:ext>
            </a:extLst>
          </p:cNvPr>
          <p:cNvSpPr/>
          <p:nvPr/>
        </p:nvSpPr>
        <p:spPr>
          <a:xfrm>
            <a:off x="431292" y="8458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behind the model, the app, and the voice interface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EF5227D-AC04-EFD9-D7A4-B1E04B638767}"/>
              </a:ext>
            </a:extLst>
          </p:cNvPr>
          <p:cNvSpPr/>
          <p:nvPr/>
        </p:nvSpPr>
        <p:spPr>
          <a:xfrm>
            <a:off x="431292" y="1485900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1465568-2CA5-4143-5FDE-B27D72B040CE}"/>
              </a:ext>
            </a:extLst>
          </p:cNvPr>
          <p:cNvSpPr/>
          <p:nvPr/>
        </p:nvSpPr>
        <p:spPr>
          <a:xfrm>
            <a:off x="431292" y="148590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7786E23-43ED-82BA-6CFD-5DFB545B5C2A}"/>
              </a:ext>
            </a:extLst>
          </p:cNvPr>
          <p:cNvSpPr/>
          <p:nvPr/>
        </p:nvSpPr>
        <p:spPr>
          <a:xfrm>
            <a:off x="431292" y="1943100"/>
            <a:ext cx="3611880" cy="32004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E4B33A-4D4B-D7D8-9C37-A76DF0DB33E0}"/>
              </a:ext>
            </a:extLst>
          </p:cNvPr>
          <p:cNvSpPr/>
          <p:nvPr/>
        </p:nvSpPr>
        <p:spPr>
          <a:xfrm>
            <a:off x="431292" y="14859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E1CB2C0-78DC-5BE2-8D38-304B2C321CF6}"/>
              </a:ext>
            </a:extLst>
          </p:cNvPr>
          <p:cNvSpPr/>
          <p:nvPr/>
        </p:nvSpPr>
        <p:spPr>
          <a:xfrm>
            <a:off x="705612" y="2592324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647E79-2924-FF04-06F1-892BFBFE0494}"/>
              </a:ext>
            </a:extLst>
          </p:cNvPr>
          <p:cNvSpPr/>
          <p:nvPr/>
        </p:nvSpPr>
        <p:spPr>
          <a:xfrm>
            <a:off x="934212" y="24277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27FDBAA-35FE-595D-D50D-EA00088CF63F}"/>
              </a:ext>
            </a:extLst>
          </p:cNvPr>
          <p:cNvSpPr/>
          <p:nvPr/>
        </p:nvSpPr>
        <p:spPr>
          <a:xfrm>
            <a:off x="705612" y="315925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081275A-F657-A3CE-0651-1DA84374FFFA}"/>
              </a:ext>
            </a:extLst>
          </p:cNvPr>
          <p:cNvSpPr/>
          <p:nvPr/>
        </p:nvSpPr>
        <p:spPr>
          <a:xfrm>
            <a:off x="934212" y="29946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(SVC classifier)</a:t>
            </a:r>
            <a:endParaRPr lang="en-US" sz="12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BC0BD6F-D675-9F10-887D-E3B18F56B31A}"/>
              </a:ext>
            </a:extLst>
          </p:cNvPr>
          <p:cNvSpPr/>
          <p:nvPr/>
        </p:nvSpPr>
        <p:spPr>
          <a:xfrm>
            <a:off x="705612" y="3726180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E8BA3C-79B3-3B25-687D-B3C300018252}"/>
              </a:ext>
            </a:extLst>
          </p:cNvPr>
          <p:cNvSpPr/>
          <p:nvPr/>
        </p:nvSpPr>
        <p:spPr>
          <a:xfrm>
            <a:off x="934212" y="356158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B556003-A655-BDE9-C1C2-59ADA5A92522}"/>
              </a:ext>
            </a:extLst>
          </p:cNvPr>
          <p:cNvSpPr/>
          <p:nvPr/>
        </p:nvSpPr>
        <p:spPr>
          <a:xfrm>
            <a:off x="705612" y="4293108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23ACED4-D942-88C3-DD87-062F73BD5241}"/>
              </a:ext>
            </a:extLst>
          </p:cNvPr>
          <p:cNvSpPr/>
          <p:nvPr/>
        </p:nvSpPr>
        <p:spPr>
          <a:xfrm>
            <a:off x="934212" y="41285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2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737EEB9-2CAE-74C2-BBA1-1CD59E2C3415}"/>
              </a:ext>
            </a:extLst>
          </p:cNvPr>
          <p:cNvSpPr/>
          <p:nvPr/>
        </p:nvSpPr>
        <p:spPr>
          <a:xfrm>
            <a:off x="705612" y="4860036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974FBB0-C2D9-5C6B-5659-102EECBBFEC0}"/>
              </a:ext>
            </a:extLst>
          </p:cNvPr>
          <p:cNvSpPr/>
          <p:nvPr/>
        </p:nvSpPr>
        <p:spPr>
          <a:xfrm>
            <a:off x="934212" y="469544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(model serialization)</a:t>
            </a:r>
            <a:endParaRPr lang="en-US" sz="12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737FAD1-77CC-70AC-BEA6-FE80F2A502AC}"/>
              </a:ext>
            </a:extLst>
          </p:cNvPr>
          <p:cNvSpPr/>
          <p:nvPr/>
        </p:nvSpPr>
        <p:spPr>
          <a:xfrm>
            <a:off x="4290060" y="1485900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D22A47A-350F-CB0B-3E4F-A97325FE4B9B}"/>
              </a:ext>
            </a:extLst>
          </p:cNvPr>
          <p:cNvSpPr/>
          <p:nvPr/>
        </p:nvSpPr>
        <p:spPr>
          <a:xfrm>
            <a:off x="4290060" y="148590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124369F-BC08-489E-6E6E-33EE3C9C48A1}"/>
              </a:ext>
            </a:extLst>
          </p:cNvPr>
          <p:cNvSpPr/>
          <p:nvPr/>
        </p:nvSpPr>
        <p:spPr>
          <a:xfrm>
            <a:off x="4290060" y="1943100"/>
            <a:ext cx="3611880" cy="32004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CB34CFE-407F-4B10-16E2-210C70647CF4}"/>
              </a:ext>
            </a:extLst>
          </p:cNvPr>
          <p:cNvSpPr/>
          <p:nvPr/>
        </p:nvSpPr>
        <p:spPr>
          <a:xfrm>
            <a:off x="4290060" y="14859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17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E815E42-BE36-9C75-BABD-90C585387077}"/>
              </a:ext>
            </a:extLst>
          </p:cNvPr>
          <p:cNvSpPr/>
          <p:nvPr/>
        </p:nvSpPr>
        <p:spPr>
          <a:xfrm>
            <a:off x="4564380" y="2592324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07589C7-4D6B-F461-B61A-D05A4F868414}"/>
              </a:ext>
            </a:extLst>
          </p:cNvPr>
          <p:cNvSpPr/>
          <p:nvPr/>
        </p:nvSpPr>
        <p:spPr>
          <a:xfrm>
            <a:off x="4792980" y="24277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(routing &amp; backend)</a:t>
            </a:r>
            <a:endParaRPr lang="en-US" sz="12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13BDBDD-1FB4-6C06-62E0-9D006E37BAF3}"/>
              </a:ext>
            </a:extLst>
          </p:cNvPr>
          <p:cNvSpPr/>
          <p:nvPr/>
        </p:nvSpPr>
        <p:spPr>
          <a:xfrm>
            <a:off x="4564380" y="3159252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EB7E38C-96EB-CDE9-1113-915A0389864A}"/>
              </a:ext>
            </a:extLst>
          </p:cNvPr>
          <p:cNvSpPr/>
          <p:nvPr/>
        </p:nvSpPr>
        <p:spPr>
          <a:xfrm>
            <a:off x="4792980" y="29946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Jinja2 templates</a:t>
            </a:r>
            <a:endParaRPr lang="en-US" sz="12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7E1DFA0-847D-74DB-1F46-A61F2EA159A9}"/>
              </a:ext>
            </a:extLst>
          </p:cNvPr>
          <p:cNvSpPr/>
          <p:nvPr/>
        </p:nvSpPr>
        <p:spPr>
          <a:xfrm>
            <a:off x="4564380" y="3726180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CC6369D-AF28-DADF-EA9C-F8B1B1E5486F}"/>
              </a:ext>
            </a:extLst>
          </p:cNvPr>
          <p:cNvSpPr/>
          <p:nvPr/>
        </p:nvSpPr>
        <p:spPr>
          <a:xfrm>
            <a:off x="4792980" y="356158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difflib (fuzzy symptom matching)</a:t>
            </a:r>
            <a:endParaRPr lang="en-US" sz="12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46A8F54-55DF-0D06-849A-114F7B9648DC}"/>
              </a:ext>
            </a:extLst>
          </p:cNvPr>
          <p:cNvSpPr/>
          <p:nvPr/>
        </p:nvSpPr>
        <p:spPr>
          <a:xfrm>
            <a:off x="4564380" y="4293108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E128100-6B99-0ECA-D7FD-F92992B49925}"/>
              </a:ext>
            </a:extLst>
          </p:cNvPr>
          <p:cNvSpPr/>
          <p:nvPr/>
        </p:nvSpPr>
        <p:spPr>
          <a:xfrm>
            <a:off x="4792980" y="41285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CSV-based knowledge base</a:t>
            </a:r>
            <a:endParaRPr lang="en-US" sz="12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FFA6AE8-4387-6427-719A-2E4CB8EB914E}"/>
              </a:ext>
            </a:extLst>
          </p:cNvPr>
          <p:cNvSpPr/>
          <p:nvPr/>
        </p:nvSpPr>
        <p:spPr>
          <a:xfrm>
            <a:off x="8148828" y="1485900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9D403B3-C698-9A01-CC96-9D0A5A4E2F2C}"/>
              </a:ext>
            </a:extLst>
          </p:cNvPr>
          <p:cNvSpPr/>
          <p:nvPr/>
        </p:nvSpPr>
        <p:spPr>
          <a:xfrm>
            <a:off x="8148828" y="148590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B16EB28E-7EFE-EB43-91A9-1C5659B35A93}"/>
              </a:ext>
            </a:extLst>
          </p:cNvPr>
          <p:cNvSpPr/>
          <p:nvPr/>
        </p:nvSpPr>
        <p:spPr>
          <a:xfrm>
            <a:off x="8148828" y="1943100"/>
            <a:ext cx="3611880" cy="32004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F66DAA8-B83C-98CA-5ED7-7B6F74247657}"/>
              </a:ext>
            </a:extLst>
          </p:cNvPr>
          <p:cNvSpPr/>
          <p:nvPr/>
        </p:nvSpPr>
        <p:spPr>
          <a:xfrm>
            <a:off x="8148828" y="14859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Interface</a:t>
            </a:r>
            <a:endParaRPr lang="en-US" sz="17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DB7991C-0BF2-EF2A-F4B1-956FC5FAD059}"/>
              </a:ext>
            </a:extLst>
          </p:cNvPr>
          <p:cNvSpPr/>
          <p:nvPr/>
        </p:nvSpPr>
        <p:spPr>
          <a:xfrm>
            <a:off x="8423148" y="2592324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9BB1B4A-62B8-7B4F-9B81-34E27429F3DA}"/>
              </a:ext>
            </a:extLst>
          </p:cNvPr>
          <p:cNvSpPr/>
          <p:nvPr/>
        </p:nvSpPr>
        <p:spPr>
          <a:xfrm>
            <a:off x="8651748" y="24277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 library</a:t>
            </a:r>
            <a:endParaRPr lang="en-US" sz="12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B1C0DB9A-1785-9A95-E122-1F0424217CE5}"/>
              </a:ext>
            </a:extLst>
          </p:cNvPr>
          <p:cNvSpPr/>
          <p:nvPr/>
        </p:nvSpPr>
        <p:spPr>
          <a:xfrm>
            <a:off x="8423148" y="3159252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2EA4C1B-8911-5F30-C663-E17BD269AB25}"/>
              </a:ext>
            </a:extLst>
          </p:cNvPr>
          <p:cNvSpPr/>
          <p:nvPr/>
        </p:nvSpPr>
        <p:spPr>
          <a:xfrm>
            <a:off x="8651748" y="29946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Speech-to-Text API</a:t>
            </a:r>
            <a:endParaRPr lang="en-US" sz="12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3F71E97F-B3CF-01C1-98CF-B44F51EECAC5}"/>
              </a:ext>
            </a:extLst>
          </p:cNvPr>
          <p:cNvSpPr/>
          <p:nvPr/>
        </p:nvSpPr>
        <p:spPr>
          <a:xfrm>
            <a:off x="8423148" y="3726180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AAC9A41-4817-5CD0-40F5-5E51CCB2559E}"/>
              </a:ext>
            </a:extLst>
          </p:cNvPr>
          <p:cNvSpPr/>
          <p:nvPr/>
        </p:nvSpPr>
        <p:spPr>
          <a:xfrm>
            <a:off x="8651748" y="356158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audio capture</a:t>
            </a:r>
            <a:endParaRPr lang="en-US" sz="12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E242F2D-2DED-7209-D69A-8377D7E70DE8}"/>
              </a:ext>
            </a:extLst>
          </p:cNvPr>
          <p:cNvSpPr/>
          <p:nvPr/>
        </p:nvSpPr>
        <p:spPr>
          <a:xfrm>
            <a:off x="431292" y="61950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CSV datasets  →  Label encoding  →  SVC training  →  Pickled model  →  Flask API  →  Web / Voice UI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1030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67D5-45EC-DCE3-9A68-2D78E921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6" y="2080619"/>
            <a:ext cx="8825657" cy="1085914"/>
          </a:xfrm>
        </p:spPr>
        <p:txBody>
          <a:bodyPr/>
          <a:lstStyle/>
          <a:p>
            <a:r>
              <a:rPr lang="en-IN" dirty="0"/>
              <a:t>              </a:t>
            </a:r>
            <a:r>
              <a:rPr lang="en-IN" sz="4400" b="1" u="sng" dirty="0"/>
              <a:t>THANKING YOU</a:t>
            </a:r>
          </a:p>
        </p:txBody>
      </p:sp>
    </p:spTree>
    <p:extLst>
      <p:ext uri="{BB962C8B-B14F-4D97-AF65-F5344CB8AC3E}">
        <p14:creationId xmlns:p14="http://schemas.microsoft.com/office/powerpoint/2010/main" val="56613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157</TotalTime>
  <Words>339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Cambria</vt:lpstr>
      <vt:lpstr>Century Gothic</vt:lpstr>
      <vt:lpstr>Wingdings 3</vt:lpstr>
      <vt:lpstr>Ion</vt:lpstr>
      <vt:lpstr>              DATA SCIENCE</vt:lpstr>
      <vt:lpstr>What is data science</vt:lpstr>
      <vt:lpstr>DATA SCIENCE WORKFLOW</vt:lpstr>
      <vt:lpstr>Technical stack in data science</vt:lpstr>
      <vt:lpstr>REAL WORLD APPLICATIONS</vt:lpstr>
      <vt:lpstr>PowerPoint Presentation</vt:lpstr>
      <vt:lpstr>PowerPoint Presentation</vt:lpstr>
      <vt:lpstr>PowerPoint Presentation</vt:lpstr>
      <vt:lpstr>              THANKING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leela prasad</dc:creator>
  <cp:lastModifiedBy>leela prasad</cp:lastModifiedBy>
  <cp:revision>1</cp:revision>
  <dcterms:created xsi:type="dcterms:W3CDTF">2026-07-22T14:18:57Z</dcterms:created>
  <dcterms:modified xsi:type="dcterms:W3CDTF">2026-07-22T16:56:54Z</dcterms:modified>
</cp:coreProperties>
</file>